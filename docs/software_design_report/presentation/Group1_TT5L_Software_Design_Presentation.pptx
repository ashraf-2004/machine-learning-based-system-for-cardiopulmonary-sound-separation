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965960" cy="388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554480"/>
            <a:ext cx="7955279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200" b="1">
                <a:solidFill>
                  <a:srgbClr val="12355B"/>
                </a:solidFill>
                <a:latin typeface="Aptos"/>
              </a:defRPr>
            </a:pPr>
            <a:r>
              <a:t>Machine Learning-Based System for</a:t>
            </a:r>
            <a:br/>
            <a:r>
              <a:t>Cardiopulmonary Sound 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70048"/>
            <a:ext cx="7863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2F80ED"/>
                </a:solidFill>
                <a:latin typeface="Aptos"/>
              </a:defRPr>
            </a:pPr>
            <a:r>
              <a:t>CSE 6234 Software Design | Group 1 | Tutorial Section TT5L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33756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37560"/>
            <a:ext cx="73152" cy="20116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447288"/>
            <a:ext cx="49377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2355B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76472"/>
            <a:ext cx="4937760" cy="1481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20" b="0">
                <a:solidFill>
                  <a:srgbClr val="5B677A"/>
                </a:solidFill>
                <a:latin typeface="Aptos"/>
              </a:defRPr>
            </a:pPr>
            <a:r>
              <a:t>AL-SALOUL, ASHRAF ALI HUSSEIN | 1221303805</a:t>
            </a:r>
            <a:br/>
            <a:r>
              <a:t>AHMAD AKMAL ASYRAAF BIN SHAMS | 242UC244CJ</a:t>
            </a:r>
            <a:br/>
            <a:r>
              <a:t>RESHMA A/P KRISHNAMURTHY | 243UC247KW</a:t>
            </a:r>
            <a:br/>
            <a:r>
              <a:t>SHARWIN A/L R SIVALINGAM | 241UC241C1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337560"/>
            <a:ext cx="73152" cy="201168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447288"/>
            <a:ext cx="4206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2355B"/>
                </a:solidFill>
                <a:latin typeface="Aptos"/>
              </a:defRPr>
            </a:pPr>
            <a:r>
              <a:t>Presentation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776472"/>
            <a:ext cx="4206240" cy="1481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77A"/>
                </a:solidFill>
                <a:latin typeface="Aptos"/>
              </a:defRPr>
            </a:pPr>
            <a:r>
              <a:t>Working prototype</a:t>
            </a:r>
            <a:br/>
            <a:r>
              <a:t>Software architecture</a:t>
            </a:r>
            <a:br/>
            <a:r>
              <a:t>Component-level design</a:t>
            </a:r>
            <a:br/>
            <a:r>
              <a:t>Design patterns</a:t>
            </a:r>
            <a:br/>
            <a:r>
              <a:t>Team reflection</a:t>
            </a:r>
          </a:p>
        </p:txBody>
      </p:sp>
      <p:pic>
        <p:nvPicPr>
          <p:cNvPr id="15" name="Picture 14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Problem And System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Why this HealthTech prototype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657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4069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18488"/>
            <a:ext cx="33832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3383280" cy="3538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50" b="0">
                <a:solidFill>
                  <a:srgbClr val="5B677A"/>
                </a:solidFill>
                <a:latin typeface="Aptos"/>
              </a:defRPr>
            </a:pPr>
            <a:r>
              <a:t>Mixed chest recordings contain overlapping heart and lung sounds. A standalone ML script is not enough for a usable demo because users also need upload, validation, storage, preview, download, and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08760"/>
            <a:ext cx="2971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73152" cy="4069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618488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Main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947672"/>
            <a:ext cx="2697480" cy="3538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50" b="0">
                <a:solidFill>
                  <a:srgbClr val="5B677A"/>
                </a:solidFill>
                <a:latin typeface="Aptos"/>
              </a:defRPr>
            </a:pPr>
            <a:r>
              <a:t>Build a local web system that accepts mixed WAV audio and produces separated heart and lung WAV outputs using real NeoSSNet inference.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508760"/>
            <a:ext cx="31546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508760"/>
            <a:ext cx="73152" cy="406908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1618488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Design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1947672"/>
            <a:ext cx="2880360" cy="3538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50" b="0">
                <a:solidFill>
                  <a:srgbClr val="5B677A"/>
                </a:solidFill>
                <a:latin typeface="Aptos"/>
              </a:defRPr>
            </a:pPr>
            <a:r>
              <a:t>Show maintainable software design using layered architecture, SQLite records, local file storage, SOLID principles, and selected design patterns.</a:t>
            </a:r>
          </a:p>
        </p:txBody>
      </p:sp>
      <p:pic>
        <p:nvPicPr>
          <p:cNvPr id="18" name="Picture 17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System Scope And 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Focused local prototype for demonstration, not clinical diagnosis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17043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18488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3063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77A"/>
                </a:solidFill>
                <a:latin typeface="Aptos"/>
              </a:defRPr>
            </a:pPr>
            <a:r>
              <a:t>Mixed WAV audio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170432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063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77A"/>
                </a:solidFill>
                <a:latin typeface="Aptos"/>
              </a:defRPr>
            </a:pPr>
            <a:r>
              <a:t>File type and WAV header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618488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Separate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47672"/>
            <a:ext cx="3063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77A"/>
                </a:solidFill>
                <a:latin typeface="Aptos"/>
              </a:defRPr>
            </a:pPr>
            <a:r>
              <a:t>NeoSSNet heart/lung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0896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108960"/>
            <a:ext cx="73152" cy="117043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18688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547872"/>
            <a:ext cx="3063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77A"/>
                </a:solidFill>
                <a:latin typeface="Aptos"/>
              </a:defRPr>
            </a:pPr>
            <a:r>
              <a:t>Browser audio playback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0896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108960"/>
            <a:ext cx="73152" cy="1170432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218688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Download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547872"/>
            <a:ext cx="3063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77A"/>
                </a:solidFill>
                <a:latin typeface="Aptos"/>
              </a:defRPr>
            </a:pPr>
            <a:r>
              <a:t>Heart and lung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10896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108960"/>
            <a:ext cx="73152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218688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3547872"/>
            <a:ext cx="3063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B677A"/>
                </a:solidFill>
                <a:latin typeface="Aptos"/>
              </a:defRPr>
            </a:pPr>
            <a:r>
              <a:t>SQLite job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92040"/>
            <a:ext cx="10424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92040"/>
            <a:ext cx="73152" cy="6583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001768"/>
            <a:ext cx="10149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2355B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330952"/>
            <a:ext cx="1014984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No medical diagnosis, no clinical validation claim, no hospital deployment, and no training from runtime uploads.</a:t>
            </a:r>
          </a:p>
        </p:txBody>
      </p:sp>
      <p:pic>
        <p:nvPicPr>
          <p:cNvPr id="34" name="Picture 33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Software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Layered design keeps the prototype understandable and maintainable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94767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22402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1673351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20" b="1">
                <a:solidFill>
                  <a:srgbClr val="12355B"/>
                </a:solidFill>
                <a:latin typeface="Aptos"/>
              </a:defRPr>
            </a:pPr>
            <a:r>
              <a:t>UI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1673351" cy="1709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HTML/CSS/JS templates</a:t>
            </a:r>
            <a:br/>
            <a:r>
              <a:t>Upload, preview, history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3744" y="2743200"/>
            <a:ext cx="292608" cy="32004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874519"/>
            <a:ext cx="194767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2" y="1874519"/>
            <a:ext cx="73152" cy="224028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984248"/>
            <a:ext cx="1673351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20" b="1">
                <a:solidFill>
                  <a:srgbClr val="12355B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313432"/>
            <a:ext cx="1673351" cy="1709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FastAPI routers</a:t>
            </a:r>
            <a:br/>
            <a:r>
              <a:t>/upload, /separate, /history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5736" y="2743200"/>
            <a:ext cx="292608" cy="32004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9784" y="1874519"/>
            <a:ext cx="194767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9784" y="1874519"/>
            <a:ext cx="73152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984248"/>
            <a:ext cx="1673351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20" b="1">
                <a:solidFill>
                  <a:srgbClr val="12355B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313432"/>
            <a:ext cx="1673351" cy="1709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SeparationService</a:t>
            </a:r>
            <a:br/>
            <a:r>
              <a:t>Model, storage, result services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67728" y="2743200"/>
            <a:ext cx="292608" cy="32004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51776" y="1874519"/>
            <a:ext cx="194767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6" y="1874519"/>
            <a:ext cx="73152" cy="22402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1984248"/>
            <a:ext cx="1673351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20" b="1">
                <a:solidFill>
                  <a:srgbClr val="12355B"/>
                </a:solidFill>
                <a:latin typeface="Aptos"/>
              </a:defRPr>
            </a:pPr>
            <a:r>
              <a:t>ML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2313432"/>
            <a:ext cx="1673351" cy="1709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SeparationEngine</a:t>
            </a:r>
            <a:br/>
            <a:r>
              <a:t>NeoSSNetStrategy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189720" y="2743200"/>
            <a:ext cx="292608" cy="32004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1874519"/>
            <a:ext cx="194767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73768" y="1874519"/>
            <a:ext cx="73152" cy="224028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1984248"/>
            <a:ext cx="1673351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20" b="1">
                <a:solidFill>
                  <a:srgbClr val="12355B"/>
                </a:solidFill>
                <a:latin typeface="Aptos"/>
              </a:defRPr>
            </a:pPr>
            <a:r>
              <a:t>Data/Storage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313432"/>
            <a:ext cx="1673351" cy="1709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SQLite metadata</a:t>
            </a:r>
            <a:br/>
            <a:r>
              <a:t>Local WAV/model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00600"/>
            <a:ext cx="99669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12355B"/>
                </a:solidFill>
                <a:latin typeface="Aptos"/>
              </a:defRPr>
            </a:pPr>
            <a:r>
              <a:t>Architecture value: separates UI, request handling, workflow coordination, real inference, and persistent records.</a:t>
            </a:r>
          </a:p>
        </p:txBody>
      </p:sp>
      <p:pic>
        <p:nvPicPr>
          <p:cNvPr id="31" name="Picture 30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Component-Level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Key components behind upload, separation, and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2743200" cy="82296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355B"/>
                </a:solidFill>
                <a:latin typeface="Aptos"/>
              </a:defRPr>
            </a:pPr>
            <a:r>
              <a:t>FastAPI Routers</a:t>
            </a:r>
            <a:br/>
            <a:r>
              <a:t>UploadRouter | SeparationRouter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63040"/>
            <a:ext cx="2743200" cy="82296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355B"/>
                </a:solidFill>
                <a:latin typeface="Aptos"/>
              </a:defRPr>
            </a:pPr>
            <a:r>
              <a:t>SeparationService</a:t>
            </a:r>
            <a:br/>
            <a:r>
              <a:t>Facade workflow coordinator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463040"/>
            <a:ext cx="2560320" cy="82296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355B"/>
                </a:solidFill>
                <a:latin typeface="Aptos"/>
              </a:defRPr>
            </a:pPr>
            <a:r>
              <a:t>Frontend Templates</a:t>
            </a:r>
            <a:br/>
            <a:r>
              <a:t>Upload | Results | History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691640"/>
            <a:ext cx="502920" cy="32004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726679" y="1691640"/>
            <a:ext cx="502920" cy="32004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3246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80360"/>
            <a:ext cx="73152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99008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1">
                <a:solidFill>
                  <a:srgbClr val="12355B"/>
                </a:solidFill>
                <a:latin typeface="Aptos"/>
              </a:defRPr>
            </a:pPr>
            <a:r>
              <a:t>ModelService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319272"/>
            <a:ext cx="2971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active model lookup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880360"/>
            <a:ext cx="3246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880360"/>
            <a:ext cx="73152" cy="91440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99008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1">
                <a:solidFill>
                  <a:srgbClr val="12355B"/>
                </a:solidFill>
                <a:latin typeface="Aptos"/>
              </a:defRPr>
            </a:pPr>
            <a:r>
              <a:t>StorageService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319272"/>
            <a:ext cx="2971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paths and WAV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880360"/>
            <a:ext cx="3246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88036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99008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1">
                <a:solidFill>
                  <a:srgbClr val="12355B"/>
                </a:solidFill>
                <a:latin typeface="Aptos"/>
              </a:defRPr>
            </a:pPr>
            <a:r>
              <a:t>ResultService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319272"/>
            <a:ext cx="2971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result/history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14800"/>
            <a:ext cx="3246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114800"/>
            <a:ext cx="73152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22452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1">
                <a:solidFill>
                  <a:srgbClr val="12355B"/>
                </a:solidFill>
                <a:latin typeface="Aptos"/>
              </a:defRPr>
            </a:pPr>
            <a:r>
              <a:t>SeparationEngine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553712"/>
            <a:ext cx="2971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strategy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114800"/>
            <a:ext cx="3246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114800"/>
            <a:ext cx="73152" cy="91440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22452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1">
                <a:solidFill>
                  <a:srgbClr val="12355B"/>
                </a:solidFill>
                <a:latin typeface="Aptos"/>
              </a:defRPr>
            </a:pPr>
            <a:r>
              <a:t>NeoSSNetStrategy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553712"/>
            <a:ext cx="2971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real ML inference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114800"/>
            <a:ext cx="3246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4114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422452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1">
                <a:solidFill>
                  <a:srgbClr val="12355B"/>
                </a:solidFill>
                <a:latin typeface="Aptos"/>
              </a:defRPr>
            </a:pPr>
            <a:r>
              <a:t>SQLite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553712"/>
            <a:ext cx="2971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jobs, results, logs</a:t>
            </a:r>
          </a:p>
        </p:txBody>
      </p:sp>
      <p:pic>
        <p:nvPicPr>
          <p:cNvPr id="35" name="Picture 34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Design Patterns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Final clean mapping used in the prototype explanation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42976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33375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50" b="1">
                <a:solidFill>
                  <a:srgbClr val="12355B"/>
                </a:solidFill>
                <a:latin typeface="Aptos"/>
              </a:defRPr>
            </a:pPr>
            <a:r>
              <a:t>Facade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3337560" cy="3767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B677A"/>
                </a:solidFill>
                <a:latin typeface="Aptos"/>
              </a:defRPr>
            </a:pPr>
            <a:r>
              <a:t>Client: SeparationRouter</a:t>
            </a:r>
            <a:br/>
            <a:r>
              <a:t>Facade: SeparationService</a:t>
            </a:r>
            <a:br/>
            <a:r>
              <a:t>Subsystems: ModelService, StorageService, ResultService</a:t>
            </a:r>
            <a:br/>
            <a:br/>
            <a:r>
              <a:t>Purpose: one simple service call hides workflow complexity.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73152" cy="429768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35607"/>
            <a:ext cx="33375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50" b="1">
                <a:solidFill>
                  <a:srgbClr val="12355B"/>
                </a:solidFill>
                <a:latin typeface="Aptos"/>
              </a:defRPr>
            </a:pPr>
            <a:r>
              <a:t>Strategy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64792"/>
            <a:ext cx="3337560" cy="3767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B677A"/>
                </a:solidFill>
                <a:latin typeface="Aptos"/>
              </a:defRPr>
            </a:pPr>
            <a:r>
              <a:t>Context: SeparationEngine</a:t>
            </a:r>
            <a:br/>
            <a:r>
              <a:t>Strategy: SeparationAlgorithm</a:t>
            </a:r>
            <a:br/>
            <a:r>
              <a:t>ConcreteStrategy: NeoSSNetStrategy</a:t>
            </a:r>
            <a:br/>
            <a:br/>
            <a:r>
              <a:t>Purpose: run the selected algorithm through a common 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73152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435607"/>
            <a:ext cx="33375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50" b="1">
                <a:solidFill>
                  <a:srgbClr val="12355B"/>
                </a:solidFill>
                <a:latin typeface="Aptos"/>
              </a:defRPr>
            </a:pPr>
            <a:r>
              <a:t>Factory Method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764792"/>
            <a:ext cx="3337560" cy="3767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5B677A"/>
                </a:solidFill>
                <a:latin typeface="Aptos"/>
              </a:defRPr>
            </a:pPr>
            <a:r>
              <a:t>Client: UploadRouter</a:t>
            </a:r>
            <a:br/>
            <a:r>
              <a:t>Creator: AudioValidatorFactory</a:t>
            </a:r>
            <a:br/>
            <a:r>
              <a:t>ConcreteCreator: WavAudioValidatorFactory</a:t>
            </a:r>
            <a:br/>
            <a:r>
              <a:t>Product: AudioValidator</a:t>
            </a:r>
            <a:br/>
            <a:r>
              <a:t>ConcreteProduct: WavAudioValidator</a:t>
            </a:r>
          </a:p>
        </p:txBody>
      </p:sp>
      <p:pic>
        <p:nvPicPr>
          <p:cNvPr id="18" name="Picture 17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Prototype Workflow: Input To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What the lecturer can see during the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261872" cy="749808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355B"/>
                </a:solidFill>
                <a:latin typeface="Aptos"/>
              </a:defRPr>
            </a:pPr>
            <a:r>
              <a:t>Mixed WAV</a:t>
            </a:r>
            <a:br/>
            <a:r>
              <a:t>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64792" y="2167128"/>
            <a:ext cx="329184" cy="22860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30552" y="1965960"/>
            <a:ext cx="1261872" cy="749808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355B"/>
                </a:solidFill>
                <a:latin typeface="Aptos"/>
              </a:defRPr>
            </a:pPr>
            <a:r>
              <a:t>Validate</a:t>
            </a:r>
            <a:br/>
            <a:r>
              <a:t>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92424" y="2167128"/>
            <a:ext cx="329184" cy="22860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58184" y="1965960"/>
            <a:ext cx="1261872" cy="749808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355B"/>
                </a:solidFill>
                <a:latin typeface="Aptos"/>
              </a:defRPr>
            </a:pPr>
            <a:r>
              <a:t>Select</a:t>
            </a:r>
            <a:br/>
            <a:r>
              <a:t>model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20056" y="2167128"/>
            <a:ext cx="329184" cy="22860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85816" y="1965960"/>
            <a:ext cx="1261872" cy="749808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355B"/>
                </a:solidFill>
                <a:latin typeface="Aptos"/>
              </a:defRPr>
            </a:pPr>
            <a:r>
              <a:t>Run</a:t>
            </a:r>
            <a:br/>
            <a:r>
              <a:t>separation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47688" y="2167128"/>
            <a:ext cx="329184" cy="22860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13448" y="1965960"/>
            <a:ext cx="1261872" cy="749808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355B"/>
                </a:solidFill>
                <a:latin typeface="Aptos"/>
              </a:defRPr>
            </a:pPr>
            <a:r>
              <a:t>Save heart</a:t>
            </a:r>
            <a:br/>
            <a:r>
              <a:t>and lung WAV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75320" y="2167128"/>
            <a:ext cx="329184" cy="22860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41080" y="1965960"/>
            <a:ext cx="1261872" cy="749808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355B"/>
                </a:solidFill>
                <a:latin typeface="Aptos"/>
              </a:defRPr>
            </a:pPr>
            <a:r>
              <a:t>Preview /</a:t>
            </a:r>
            <a:br/>
            <a:r>
              <a:t>download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902952" y="2167128"/>
            <a:ext cx="329184" cy="228600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68712" y="1965960"/>
            <a:ext cx="1261872" cy="749808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355B"/>
                </a:solidFill>
                <a:latin typeface="Aptos"/>
              </a:defRPr>
            </a:pPr>
            <a:r>
              <a:t>Record</a:t>
            </a:r>
            <a:br/>
            <a:r>
              <a:t>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86200"/>
            <a:ext cx="73152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99592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2355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325112"/>
            <a:ext cx="29718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User uploads a mixed cardiopulmonary .wav file.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8620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86200"/>
            <a:ext cx="73152" cy="105156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399592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2355B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325112"/>
            <a:ext cx="29718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FastAPI validates, stores, runs NeoSSNet, and updates SQLite.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88620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88620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399592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2355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4325112"/>
            <a:ext cx="29718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Separated heart/lung WAV files plus processing history.</a:t>
            </a:r>
          </a:p>
        </p:txBody>
      </p:sp>
      <p:pic>
        <p:nvPicPr>
          <p:cNvPr id="31" name="Picture 30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Solution Achieved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What the prototype demonstrates and what can be improved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800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4343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35607"/>
            <a:ext cx="45262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Solution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64792"/>
            <a:ext cx="4526280" cy="3813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0">
                <a:solidFill>
                  <a:srgbClr val="5B677A"/>
                </a:solidFill>
                <a:latin typeface="Aptos"/>
              </a:defRPr>
            </a:pPr>
            <a:r>
              <a:t>Working local FastAPI prototype</a:t>
            </a:r>
            <a:br/>
            <a:r>
              <a:t>Real NeoSSNet separation path</a:t>
            </a:r>
            <a:br/>
            <a:r>
              <a:t>Browser upload, preview, download, history</a:t>
            </a:r>
            <a:br/>
            <a:r>
              <a:t>SQLite traceability for uploads, jobs, results, logs</a:t>
            </a:r>
            <a:br/>
            <a:r>
              <a:t>Clear layered design and pattern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25880"/>
            <a:ext cx="4800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325880"/>
            <a:ext cx="73152" cy="4343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435607"/>
            <a:ext cx="45262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764792"/>
            <a:ext cx="4526280" cy="3813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0">
                <a:solidFill>
                  <a:srgbClr val="5B677A"/>
                </a:solidFill>
                <a:latin typeface="Aptos"/>
              </a:defRPr>
            </a:pPr>
            <a:r>
              <a:t>Better progress indicators and usability testing</a:t>
            </a:r>
            <a:br/>
            <a:r>
              <a:t>More evaluation metrics and reports</a:t>
            </a:r>
            <a:br/>
            <a:r>
              <a:t>Support more datasets and recording conditions</a:t>
            </a:r>
            <a:br/>
            <a:r>
              <a:t>Background processing for longer files</a:t>
            </a:r>
            <a:br/>
            <a:r>
              <a:t>More separation model strategies later</a:t>
            </a:r>
          </a:p>
        </p:txBody>
      </p:sp>
      <p:pic>
        <p:nvPicPr>
          <p:cNvPr id="14" name="Picture 13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Work Segregation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Clear team roles for prototype, design, and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828800" cy="411480"/>
          </a:xfrm>
          <a:prstGeom prst="roundRect">
            <a:avLst/>
          </a:prstGeom>
          <a:solidFill>
            <a:srgbClr val="2F80ED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417320"/>
            <a:ext cx="4572000" cy="411480"/>
          </a:xfrm>
          <a:prstGeom prst="roundRect">
            <a:avLst/>
          </a:prstGeom>
          <a:solidFill>
            <a:srgbClr val="2F80ED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Main contribution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417320"/>
            <a:ext cx="4297680" cy="411480"/>
          </a:xfrm>
          <a:prstGeom prst="roundRect">
            <a:avLst/>
          </a:prstGeom>
          <a:solidFill>
            <a:srgbClr val="2F80ED"/>
          </a:solidFill>
          <a:ln w="9525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Value-added contribution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73152" cy="65836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075688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12355B"/>
                </a:solidFill>
                <a:latin typeface="Aptos"/>
              </a:defRPr>
            </a:pPr>
            <a:r>
              <a:t>Ashraf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404872"/>
            <a:ext cx="15544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" b="0">
                <a:solidFill>
                  <a:srgbClr val="5B677A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670048" y="2039112"/>
            <a:ext cx="42519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Overall design coordination; backend alignment; Facade/Strategy/Factory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039112"/>
            <a:ext cx="397763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Connected code, UML, report, and demo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39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34639"/>
            <a:ext cx="73152" cy="65836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944368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12355B"/>
                </a:solidFill>
                <a:latin typeface="Aptos"/>
              </a:defRPr>
            </a:pPr>
            <a:r>
              <a:t>Ahmad Akmal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273551"/>
            <a:ext cx="15544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" b="0">
                <a:solidFill>
                  <a:srgbClr val="5B677A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2670048" y="2907791"/>
            <a:ext cx="42519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UI and prototype flow; upload/result/history user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907791"/>
            <a:ext cx="397763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Focused on usability and demo clarity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0332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73152" cy="65836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813048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12355B"/>
                </a:solidFill>
                <a:latin typeface="Aptos"/>
              </a:defRPr>
            </a:pPr>
            <a:r>
              <a:t>Reshma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142231"/>
            <a:ext cx="15544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" b="0">
                <a:solidFill>
                  <a:srgbClr val="5B677A"/>
                </a:solidFill>
                <a:latin typeface="Apto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2670048" y="3776472"/>
            <a:ext cx="42519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Database, storage, requirements, SOLID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776472"/>
            <a:ext cx="397763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Improved traceability and structured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720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72000"/>
            <a:ext cx="73152" cy="65836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4681728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12355B"/>
                </a:solidFill>
                <a:latin typeface="Aptos"/>
              </a:defRPr>
            </a:pPr>
            <a:r>
              <a:t>Sharwin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5010912"/>
            <a:ext cx="15544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" b="0">
                <a:solidFill>
                  <a:srgbClr val="5B677A"/>
                </a:solidFill>
                <a:latin typeface="Aptos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2670048" y="4645152"/>
            <a:ext cx="42519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Architecture, diagrams, component design, pattern explanation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4645152"/>
            <a:ext cx="3977639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80" b="0">
                <a:solidFill>
                  <a:srgbClr val="172033"/>
                </a:solidFill>
                <a:latin typeface="Aptos"/>
              </a:defRPr>
            </a:pPr>
            <a:r>
              <a:t>Kept diagrams readable and presentation-ready</a:t>
            </a:r>
          </a:p>
        </p:txBody>
      </p:sp>
      <p:pic>
        <p:nvPicPr>
          <p:cNvPr id="33" name="Picture 32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8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2355B"/>
                </a:solidFill>
                <a:latin typeface="Aptos"/>
              </a:defRPr>
            </a:pPr>
            <a:r>
              <a:t>Individual Self-Reflection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50" b="0">
                <a:solidFill>
                  <a:srgbClr val="5B677A"/>
                </a:solidFill>
                <a:latin typeface="Aptos"/>
              </a:defRPr>
            </a:pPr>
            <a:r>
              <a:t>Contribution, challenge, and improvement for each 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783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48006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Ashraf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56232"/>
            <a:ext cx="4800600" cy="1252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B677A"/>
                </a:solidFill>
                <a:latin typeface="Aptos"/>
              </a:defRPr>
            </a:pPr>
            <a:r>
              <a:t>Contribution: Design coordination; backend and pattern alignment</a:t>
            </a:r>
            <a:br/>
            <a:r>
              <a:t>Challenge: Aligning code, UML, and report</a:t>
            </a:r>
            <a:br/>
            <a:r>
              <a:t>Improve: More automated tests and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1783080"/>
          </a:xfrm>
          <a:prstGeom prst="rect">
            <a:avLst/>
          </a:prstGeom>
          <a:solidFill>
            <a:srgbClr val="1E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27048"/>
            <a:ext cx="48006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Ahmad Akmal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56232"/>
            <a:ext cx="4800600" cy="1252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B677A"/>
                </a:solidFill>
                <a:latin typeface="Aptos"/>
              </a:defRPr>
            </a:pPr>
            <a:r>
              <a:t>Contribution: UI flow for upload, results, and history</a:t>
            </a:r>
            <a:br/>
            <a:r>
              <a:t>Challenge: Keeping the interface simple</a:t>
            </a:r>
            <a:br/>
            <a:r>
              <a:t>Improve: More usability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66160"/>
            <a:ext cx="73152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675888"/>
            <a:ext cx="48006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Reshma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05072"/>
            <a:ext cx="4800600" cy="1252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B677A"/>
                </a:solidFill>
                <a:latin typeface="Aptos"/>
              </a:defRPr>
            </a:pPr>
            <a:r>
              <a:t>Contribution: Database/storage and SOLID requirements</a:t>
            </a:r>
            <a:br/>
            <a:r>
              <a:t>Challenge: Organizing history/result records</a:t>
            </a:r>
            <a:br/>
            <a:r>
              <a:t>Improve: More detailed metrics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566160"/>
            <a:ext cx="73152" cy="1783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675888"/>
            <a:ext cx="48006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2355B"/>
                </a:solidFill>
                <a:latin typeface="Aptos"/>
              </a:defRPr>
            </a:pPr>
            <a:r>
              <a:t>Sharwin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005072"/>
            <a:ext cx="4800600" cy="1252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B677A"/>
                </a:solidFill>
                <a:latin typeface="Aptos"/>
              </a:defRPr>
            </a:pPr>
            <a:r>
              <a:t>Contribution: Diagrams, architecture, component design</a:t>
            </a:r>
            <a:br/>
            <a:r>
              <a:t>Challenge: Keeping diagrams clean and consistent</a:t>
            </a:r>
            <a:br/>
            <a:r>
              <a:t>Improve: Support more models/validators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50" b="1">
                <a:solidFill>
                  <a:srgbClr val="12355B"/>
                </a:solidFill>
                <a:latin typeface="Aptos"/>
              </a:defRPr>
            </a:pPr>
            <a:r>
              <a:t>Close: The prototype shows a working HealthTech workflow and the design explains how it can be maintained and extended.</a:t>
            </a:r>
          </a:p>
        </p:txBody>
      </p:sp>
      <p:pic>
        <p:nvPicPr>
          <p:cNvPr id="23" name="Picture 22" descr="FCI__M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1188720" cy="2349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A"/>
                </a:solidFill>
              </a:defRPr>
            </a:pPr>
            <a:r>
              <a:t>CSE 6234 Software Design | Group 1 TT5L |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